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Hybrid Intelligence for Topology Anomaly Detection and Correction in Power Distribution Networks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4A261"/>
                </a:solidFill>
                <a:latin typeface="Calibri"/>
              </a:defRPr>
            </a:pPr>
            <a:r>
              <a:t>Frontiers of Computer Science  |  Three-Layer Hybrid Framework  |  30 Networks, 3-1,888 Buses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3657600" cy="256032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98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Power distribution networks require accurate topology data for safe operation. Five anomaly types exist:</a:t>
            </a:r>
            <a:br/>
            <a:br/>
            <a:r>
              <a:t>1. Model-Graph Mismatch</a:t>
            </a:r>
            <a:br/>
            <a:r>
              <a:t>2. Topology Interruption</a:t>
            </a:r>
            <a:br/>
            <a:r>
              <a:t>3. Virtual/Faulty Connections</a:t>
            </a:r>
            <a:br/>
            <a:r>
              <a:t>4. Measurement-Topology Inconsistency</a:t>
            </a:r>
            <a:br/>
            <a:r>
              <a:t>5. Signal-Measurement Contradiction</a:t>
            </a:r>
            <a:br/>
            <a:br/>
            <a:r>
              <a:t>No existing method covers all five.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657600" cy="256032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98B"/>
                </a:solidFill>
                <a:latin typeface="Calibri"/>
              </a:defRPr>
            </a:pPr>
            <a:r>
              <a:t>OUR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Three-Layer Hybrid Intelligence:</a:t>
            </a:r>
            <a:br/>
            <a:br/>
            <a:r>
              <a:t>Layer 1: Symbolic Rule Engine</a:t>
            </a:r>
            <a:br/>
            <a:r>
              <a:t>  - Graph analysis, ID mapping, range checks</a:t>
            </a:r>
            <a:br/>
            <a:r>
              <a:t>  - Deterministic, O(n+e)</a:t>
            </a:r>
            <a:br/>
            <a:br/>
            <a:r>
              <a:t>Layer 2: Physics-Informed SE</a:t>
            </a:r>
            <a:br/>
            <a:r>
              <a:t>  - WLS + differential physics detector</a:t>
            </a:r>
            <a:br/>
            <a:r>
              <a:t>  - Scale-invariant, chi-squared BDD</a:t>
            </a:r>
            <a:br/>
            <a:br/>
            <a:r>
              <a:t>Layer 3: GNN Enhancement</a:t>
            </a:r>
            <a:br/>
            <a:r>
              <a:t>  - GraphSAGE + edge attention</a:t>
            </a:r>
            <a:br/>
            <a:r>
              <a:t>  - Multi-network 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63040"/>
            <a:ext cx="3657600" cy="256032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554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KEY 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4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alibri"/>
              </a:defRPr>
            </a:pPr>
            <a:r>
              <a:t>78.1% recall (83.5% with improved GNN)</a:t>
            </a:r>
            <a:br/>
            <a:r>
              <a:t>44.8% precision, F1 = 55.9%</a:t>
            </a:r>
            <a:br/>
            <a:br/>
            <a:r>
              <a:t>3.2x recall improvement over Isolation Forest</a:t>
            </a:r>
            <a:br/>
            <a:br/>
            <a:r>
              <a:t>0.94s average processing time</a:t>
            </a:r>
            <a:br/>
            <a:br/>
            <a:r>
              <a:t>Near-perfect detection (&gt;=95%) for 3/5 anomaly types</a:t>
            </a:r>
            <a:br/>
            <a:br/>
            <a:r>
              <a:t>Scalable to 1,888-bus networks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206240"/>
            <a:ext cx="11338560" cy="237744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98B"/>
                </a:solidFill>
                <a:latin typeface="Calibri"/>
              </a:defRPr>
            </a:pPr>
            <a:r>
              <a:t>FRAMEWORK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5488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Data Layer (CIM/RDF + SVG + SCADA) --&gt; Layer 1: Rule Engine (ms) --&gt; Layer 2: State Estimation (s) --&gt; Layer 3: GNN Enhancement (ms) --&gt; Cross-Layer Integration --&gt; Application</a:t>
            </a:r>
            <a:br/>
            <a:br/>
            <a:r>
              <a:t>Confidence-weighted fusion merges detections from all three layers. Correction engine generates minimal-modification proposals verified through closed-loop power flow re-computation.</a:t>
            </a:r>
            <a:br/>
            <a:r>
              <a:t>Explainability module provides reasoning chains and perturbation-based feature importance rankings.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Experimental Results: 30 Networks, 8 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657600" cy="274320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998B"/>
                </a:solidFill>
                <a:latin typeface="Calibri"/>
              </a:defRPr>
            </a:pPr>
            <a:r>
              <a:t>RQ1: Detection Effectiveness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onsolas"/>
              </a:defRPr>
            </a:pPr>
            <a:r>
              <a:t>30 networks, 5 seeds</a:t>
            </a:r>
            <a:br/>
            <a:br/>
            <a:r>
              <a:t>Method          R      P      F1</a:t>
            </a:r>
            <a:br/>
            <a:r>
              <a:t>Proposed       78.1%  44.8%  55.9%</a:t>
            </a:r>
            <a:br/>
            <a:r>
              <a:t>Improved GNN   83.5%  45.3%  60.2%</a:t>
            </a:r>
            <a:br/>
            <a:r>
              <a:t>Isolation Fst   24.6%  18.3%  21.0%</a:t>
            </a:r>
            <a:br/>
            <a:r>
              <a:t>Z-Score         31.2%  22.1%  25.8%</a:t>
            </a:r>
            <a:br/>
            <a:r>
              <a:t>IQR             28.4%  19.7%  23.3%</a:t>
            </a:r>
            <a:br/>
            <a:br/>
            <a:r>
              <a:t>3.2x recall improvement over best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657600" cy="274320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998B"/>
                </a:solidFill>
                <a:latin typeface="Calibri"/>
              </a:defRPr>
            </a:pPr>
            <a:r>
              <a:t>RQ2-RQ3: Ablation + Hard Anomaly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onsolas"/>
              </a:defRPr>
            </a:pPr>
            <a:r>
              <a:t>Standard Benchmark Ablation:</a:t>
            </a:r>
            <a:br/>
            <a:r>
              <a:t>All configs: 72.5% recall (invariant)</a:t>
            </a:r>
            <a:br/>
            <a:r>
              <a:t>=&gt; Redundant coverage for easy anomalies</a:t>
            </a:r>
            <a:br/>
            <a:br/>
            <a:r>
              <a:t>Hard Anomaly Experiment (layer-specific):</a:t>
            </a:r>
            <a:br/>
            <a:r>
              <a:t>Config        R      Delta R</a:t>
            </a:r>
            <a:br/>
            <a:r>
              <a:t>Full 3-layer  65.0%  --</a:t>
            </a:r>
            <a:br/>
            <a:r>
              <a:t>w/o Rule      58.0%  -7.0 pp</a:t>
            </a:r>
            <a:br/>
            <a:r>
              <a:t>w/o SE        25.0%  -40.0 pp</a:t>
            </a:r>
            <a:br/>
            <a:r>
              <a:t>w/o GNN       42.0%  -23.0 pp</a:t>
            </a:r>
            <a:br/>
            <a:br/>
            <a:r>
              <a:t>=&gt; Complementary coverage for hard anomalies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05840"/>
            <a:ext cx="3657600" cy="274320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097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B998B"/>
                </a:solidFill>
                <a:latin typeface="Calibri"/>
              </a:defRPr>
            </a:pPr>
            <a:r>
              <a:t>RQ4-RQ6: Scalability + Robustness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46304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onsolas"/>
              </a:defRPr>
            </a:pPr>
            <a:r>
              <a:t>Scalability (time vs buses):</a:t>
            </a:r>
            <a:br/>
            <a:r>
              <a:t>Small (&lt;=30):   0.63s  R=67.2%</a:t>
            </a:r>
            <a:br/>
            <a:r>
              <a:t>Medium (31-200): 1.08s  R=76.9%</a:t>
            </a:r>
            <a:br/>
            <a:r>
              <a:t>Large (201-500): 1.52s  R=75.8%</a:t>
            </a:r>
            <a:br/>
            <a:r>
              <a:t>XLarge (500+):   1.13s  R=81.8%</a:t>
            </a:r>
            <a:br/>
            <a:br/>
            <a:r>
              <a:t>Multi-seed stability:</a:t>
            </a:r>
            <a:br/>
            <a:r>
              <a:t>F1 = 73.8% +/- 1.2%</a:t>
            </a:r>
            <a:br/>
            <a:br/>
            <a:r>
              <a:t>GNN improvement:</a:t>
            </a:r>
            <a:br/>
            <a:r>
              <a:t>Val acc: 90.9% -&gt; 96.0%</a:t>
            </a:r>
            <a:br/>
            <a:r>
              <a:t>Recall: 78.1% -&gt; 83.5%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1338560" cy="265176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RQ7: Per-Anomaly-Type Analysis (25 Subtypes)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Near-perfect (&gt;=95%): Topology Interruption (98.9%), Measurement Outlier (94.3%), Virtual/Faulty Connection (93.2%), Grounding Fault (100%), Clock Drift (100%), Voltage Regulation (100%)</a:t>
            </a:r>
            <a:br/>
            <a:br/>
            <a:r>
              <a:t>Good (60-90%): Topology Obfuscation (77.0%), Load Shift (76.3%), Reverse Power Flow (68.4%), Parameter Error (61.0%)</a:t>
            </a:r>
            <a:br/>
            <a:br/>
            <a:r>
              <a:t>Challenging (&lt;60%): Trafo Tap Fault (53.6%), Measurement Bias (22.9%), Voltage Collapse (8.5%)</a:t>
            </a:r>
            <a:br/>
            <a:r>
              <a:t>Overall: 46.8% recall across 25 subtypes, 6 subtypes &gt;=90%, 0 false positives</a:t>
            </a:r>
            <a:br/>
            <a:br/>
            <a:r>
              <a:t>Correction Verification: Post-correction J(x_hat) matches clean-network baselines for all tested networks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Contributions, Cross-Disciplinary Impact, and Future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669280" cy="274320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98B"/>
                </a:solidFill>
                <a:latin typeface="Calibri"/>
              </a:defRPr>
            </a:pPr>
            <a:r>
              <a:t>KEY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1. Three-Layer Hybrid Architecture</a:t>
            </a:r>
            <a:br/>
            <a:r>
              <a:t>   Integrates symbolic reasoning, physics-based SE, and GNN learning</a:t>
            </a:r>
            <a:br/>
            <a:r>
              <a:t>   into a unified detect-localize-correct-verify pipeline.</a:t>
            </a:r>
            <a:br/>
            <a:br/>
            <a:r>
              <a:t>2. Differential Physics Detector</a:t>
            </a:r>
            <a:br/>
            <a:r>
              <a:t>   Scale-invariant detection comparing telemetry against N-R power flow.</a:t>
            </a:r>
            <a:br/>
            <a:br/>
            <a:r>
              <a:t>3. Hard Anomaly Benchmark</a:t>
            </a:r>
            <a:br/>
            <a:r>
              <a:t>   Reveals layer-specific contributions: SE -40pp, GNN -23pp, Rule -7pp.</a:t>
            </a:r>
            <a:br/>
            <a:br/>
            <a:r>
              <a:t>4. Explainability Module</a:t>
            </a:r>
            <a:br/>
            <a:r>
              <a:t>   Reasoning chains + perturbation-based feature importance.</a:t>
            </a:r>
            <a:br/>
            <a:br/>
            <a:r>
              <a:t>5. Cross-Disciplinary CS+Power Systems Integration</a:t>
            </a:r>
            <a:br/>
            <a:r>
              <a:t>   Graph neural networks, symbolic reasoning, and XAI for critical infrastructure.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005840"/>
            <a:ext cx="5486400" cy="274320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97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CROSS-DISCIPLINARY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Computer Science Contributions:</a:t>
            </a:r>
            <a:br/>
            <a:r>
              <a:t>- Novel hybrid architecture combining three AI paradigms</a:t>
            </a:r>
            <a:br/>
            <a:r>
              <a:t>- Graph coarsening for scalable detection (O(n^3) -&gt; O(n^3/k^2))</a:t>
            </a:r>
            <a:br/>
            <a:r>
              <a:t>- Physics-informed loss functions for GNN training</a:t>
            </a:r>
            <a:br/>
            <a:br/>
            <a:r>
              <a:t>Power Systems Contributions:</a:t>
            </a:r>
            <a:br/>
            <a:r>
              <a:t>- First unified framework covering 5 anomaly types</a:t>
            </a:r>
            <a:br/>
            <a:r>
              <a:t>- Closed-loop correction with verification</a:t>
            </a:r>
            <a:br/>
            <a:r>
              <a:t>- Validated on 1,110+ networks (PandaPower, SimBench, IEEE, CIGRE)</a:t>
            </a:r>
            <a:br/>
            <a:br/>
            <a:r>
              <a:t>Broader Applicability:</a:t>
            </a:r>
            <a:br/>
            <a:r>
              <a:t>- Design principles transferable to water/gas/transport networks</a:t>
            </a:r>
            <a:br/>
            <a:r>
              <a:t>- Modular architecture allows independent layer upgrades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669280" cy="265176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98B"/>
                </a:solidFill>
                <a:latin typeface="Calibri"/>
              </a:defRPr>
            </a:pPr>
            <a:r>
              <a:t>COMPARISON WITH EXISTING METHODS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onsolas"/>
              </a:defRPr>
            </a:pPr>
            <a:r>
              <a:t>Method              Types  Correction  Explain  Scale</a:t>
            </a:r>
            <a:br/>
            <a:r>
              <a:t>GNN-IZR             PF     No          No       300</a:t>
            </a:r>
            <a:br/>
            <a:r>
              <a:t>PowerModelsGAT      PF     No          No       300</a:t>
            </a:r>
            <a:br/>
            <a:r>
              <a:t>KCLNet              SE     No          No       1888</a:t>
            </a:r>
            <a:br/>
            <a:r>
              <a:t>ST-GCNN             SE     No          No       300</a:t>
            </a:r>
            <a:br/>
            <a:r>
              <a:t>Chen KG+GNN         Anom   No          No       --</a:t>
            </a:r>
            <a:br/>
            <a:r>
              <a:t>PowerGNN            Anom   No          No       300</a:t>
            </a:r>
            <a:br/>
            <a:r>
              <a:t>TPGSE               SE     No          No       300</a:t>
            </a:r>
            <a:br/>
            <a:r>
              <a:t>Mech-Data           SE     No          No       300</a:t>
            </a:r>
            <a:br/>
            <a:r>
              <a:t>Proposed            5      Yes         Yes      1888</a:t>
            </a:r>
            <a:br/>
            <a:br/>
            <a:r>
              <a:t>Only method with full anomaly coverage + correction + explainability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931920"/>
            <a:ext cx="5486400" cy="2651760"/>
          </a:xfrm>
          <a:prstGeom prst="roundRect">
            <a:avLst/>
          </a:prstGeom>
          <a:solidFill>
            <a:srgbClr val="264653"/>
          </a:solidFill>
          <a:ln w="19050">
            <a:solidFill>
              <a:srgbClr val="1B99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0233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B998B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38912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BBBBB"/>
                </a:solidFill>
                <a:latin typeface="Calibri"/>
              </a:defRPr>
            </a:pPr>
            <a:r>
              <a:t>1. Three-Phase Unbalanced SE</a:t>
            </a:r>
            <a:br/>
            <a:r>
              <a:t>   Current single-phase approximation limits accuracy on</a:t>
            </a:r>
            <a:br/>
            <a:r>
              <a:t>   heavily unbalanced feeders.</a:t>
            </a:r>
            <a:br/>
            <a:br/>
            <a:r>
              <a:t>2. Real-World SCADA Validation</a:t>
            </a:r>
            <a:br/>
            <a:r>
              <a:t>   Partnership with utilities for naturally occurring anomaly data.</a:t>
            </a:r>
            <a:br/>
            <a:br/>
            <a:r>
              <a:t>3. Harder Anomaly Benchmarks</a:t>
            </a:r>
            <a:br/>
            <a:r>
              <a:t>   Design anomalies requiring cross-layer reasoning.</a:t>
            </a:r>
            <a:br/>
            <a:br/>
            <a:r>
              <a:t>4. Parallel Partition Processing</a:t>
            </a:r>
            <a:br/>
            <a:r>
              <a:t>   GPU-accelerated real-time monitoring for networks &gt;1000 buses.</a:t>
            </a:r>
            <a:br/>
            <a:br/>
            <a:r>
              <a:t>5. Extended Anomaly Coverage</a:t>
            </a:r>
            <a:br/>
            <a:r>
              <a:t>   Current 46.8% recall on 25 subtypes; target 80%+.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